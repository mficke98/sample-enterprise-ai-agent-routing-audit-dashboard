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148840"/>
            <a:ext cx="1371600" cy="508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spc="180">
                <a:solidFill>
                  <a:srgbClr val="4FC3E0"/>
                </a:solidFill>
                <a:latin typeface="Consolas"/>
              </a:rPr>
              <a:t>LOCAL PROTOTYPE  ·  TAKE-HOME BUILD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146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E7ECF3"/>
                </a:solidFill>
                <a:latin typeface="Consolas"/>
              </a:rPr>
              <a:t>Enterprise AI Agent</a:t>
            </a:r>
          </a:p>
          <a:p>
            <a:pPr algn="l">
              <a:lnSpc>
                <a:spcPct val="110000"/>
              </a:lnSpc>
            </a:pPr>
            <a:r>
              <a:rPr sz="4200" b="1">
                <a:solidFill>
                  <a:srgbClr val="E7ECF3"/>
                </a:solidFill>
                <a:latin typeface="Consolas"/>
              </a:rPr>
              <a:t>Routing &amp; Audit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5196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A3AFBF"/>
                </a:solidFill>
                <a:latin typeface="Segoe UI"/>
              </a:rPr>
              <a:t>A pipeline that hands work to the right specialist agent, survives that agent</a:t>
            </a:r>
          </a:p>
          <a:p>
            <a:pPr algn="l">
              <a:lnSpc>
                <a:spcPct val="145000"/>
              </a:lnSpc>
            </a:pPr>
            <a:r>
              <a:rPr sz="1700" b="0">
                <a:solidFill>
                  <a:srgbClr val="A3AFBF"/>
                </a:solidFill>
                <a:latin typeface="Segoe UI"/>
              </a:rPr>
              <a:t>failing, and shows exactly what happened and what it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349240"/>
            <a:ext cx="2609011" cy="1051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51383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34D399"/>
                </a:solidFill>
                <a:latin typeface="Consolas"/>
              </a:rPr>
              <a:t>218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6007608"/>
            <a:ext cx="22066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5349240"/>
            <a:ext cx="2609011" cy="1051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4851" y="551383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C084FC"/>
                </a:solidFill>
                <a:latin typeface="Consolas"/>
              </a:rPr>
              <a:t>+62/-7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4851" y="6007608"/>
            <a:ext cx="22066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THE CURVEBALL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998" y="5349240"/>
            <a:ext cx="2609011" cy="1051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6" y="551383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FC3E0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6" y="6007608"/>
            <a:ext cx="22066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PROD DEPENDENCIES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313" y="5349240"/>
            <a:ext cx="2609011" cy="1051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481" y="551383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34D399"/>
                </a:solidFill>
                <a:latin typeface="Consola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481" y="6007608"/>
            <a:ext cx="22066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VULNERABILITIES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160">
                <a:solidFill>
                  <a:srgbClr val="4FC3E0"/>
                </a:solidFill>
                <a:latin typeface="Consolas"/>
              </a:rPr>
              <a:t>01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7ECF3"/>
                </a:solidFill>
                <a:latin typeface="Consolas"/>
              </a:rPr>
              <a:t>Not all work is the same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A3AFBF"/>
                </a:solidFill>
                <a:latin typeface="Segoe UI"/>
              </a:rPr>
              <a:t>Tasks arrive continuously and need different specialists. Each specialist handles only so much at once. Sometimes one fails.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962656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880360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Route correctly.</a:t>
            </a:r>
            <a:r>
              <a:rPr sz="1500">
                <a:solidFill>
                  <a:srgbClr val="A3AFBF"/>
                </a:solidFill>
                <a:latin typeface="Segoe UI"/>
              </a:rPr>
              <a:t> A tax review, a PII scan and a ledger reconciliation each need a different agent.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529584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47288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Respect capacity.</a:t>
            </a:r>
            <a:r>
              <a:rPr sz="1500">
                <a:solidFill>
                  <a:srgbClr val="A3AFBF"/>
                </a:solidFill>
                <a:latin typeface="Segoe UI"/>
              </a:rPr>
              <a:t> Every agent has a hard concurrency limit that must never be exceeded.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96512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014216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Survive failure.</a:t>
            </a:r>
            <a:r>
              <a:rPr sz="1500">
                <a:solidFill>
                  <a:srgbClr val="A3AFBF"/>
                </a:solidFill>
                <a:latin typeface="Segoe UI"/>
              </a:rPr>
              <a:t> Roughly 1 in 10 executions errors or times out. Losing the task is not an option.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663440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581144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Keep a record.</a:t>
            </a:r>
            <a:r>
              <a:rPr sz="1500">
                <a:solidFill>
                  <a:srgbClr val="A3AFBF"/>
                </a:solidFill>
                <a:latin typeface="Segoe UI"/>
              </a:rPr>
              <a:t> An auditor must be able to see what ran, where, how long it took and what it cost.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349240"/>
            <a:ext cx="10874959" cy="86868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27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5321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40">
                <a:solidFill>
                  <a:srgbClr val="C084FC"/>
                </a:solidFill>
                <a:latin typeface="Consolas"/>
              </a:rPr>
              <a:t>THE REAL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806440"/>
            <a:ext cx="10326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3AFBF"/>
                </a:solidFill>
                <a:latin typeface="Segoe UI"/>
              </a:rPr>
              <a:t>The brief warned a requirement would change partway through the build. How cheaply the codebase absorbed it is the thing actually being measured.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160">
                <a:solidFill>
                  <a:srgbClr val="4FC3E0"/>
                </a:solidFill>
                <a:latin typeface="Consolas"/>
              </a:rPr>
              <a:t>02  ·  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7ECF3"/>
                </a:solidFill>
                <a:latin typeface="Consolas"/>
              </a:rPr>
              <a:t>Four agents, loaded from the supplied config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A3AFBF"/>
                </a:solidFill>
                <a:latin typeface="Segoe UI"/>
              </a:rPr>
              <a:t>Each has its own concurrency limit and its own price, which is what makes cost reporting meaningful rather than decorative.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71800"/>
            <a:ext cx="26446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20">
                <a:solidFill>
                  <a:srgbClr val="7C8899"/>
                </a:solidFill>
                <a:latin typeface="Consolas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5857" y="2971800"/>
            <a:ext cx="13396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20">
                <a:solidFill>
                  <a:srgbClr val="7C8899"/>
                </a:solidFill>
                <a:latin typeface="Consolas"/>
              </a:rPr>
              <a:t>HANDLES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8351" y="2971800"/>
            <a:ext cx="11221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20">
                <a:solidFill>
                  <a:srgbClr val="7C8899"/>
                </a:solidFill>
                <a:latin typeface="Consolas"/>
              </a:rPr>
              <a:t>AT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3346" y="2971800"/>
            <a:ext cx="19921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20">
                <a:solidFill>
                  <a:srgbClr val="7C8899"/>
                </a:solidFill>
                <a:latin typeface="Consolas"/>
              </a:rPr>
              <a:t>COST / 1K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8337" y="2971800"/>
            <a:ext cx="2862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20">
                <a:solidFill>
                  <a:srgbClr val="7C8899"/>
                </a:solidFill>
                <a:latin typeface="Consolas"/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282696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429000"/>
            <a:ext cx="262632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CF3"/>
                </a:solidFill>
                <a:latin typeface="Segoe UI"/>
              </a:rPr>
              <a:t>Tax Compliance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5857" y="3429000"/>
            <a:ext cx="132132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3AFBF"/>
                </a:solidFill>
                <a:latin typeface="Consolas"/>
              </a:rPr>
              <a:t>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8351" y="3429000"/>
            <a:ext cx="110382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CF3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3346" y="3429000"/>
            <a:ext cx="197382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3AFBF"/>
                </a:solidFill>
                <a:latin typeface="Consolas"/>
              </a:rPr>
              <a:t>$0.015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8337" y="3429000"/>
            <a:ext cx="28438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C8899"/>
                </a:solidFill>
                <a:latin typeface="Segoe UI"/>
              </a:rPr>
              <a:t>Specialist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10874959" cy="9525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142232"/>
            <a:ext cx="262632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CF3"/>
                </a:solidFill>
                <a:latin typeface="Segoe UI"/>
              </a:rPr>
              <a:t>Audit Risk Scraper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5857" y="4142232"/>
            <a:ext cx="132132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3AFBF"/>
                </a:solidFill>
                <a:latin typeface="Consolas"/>
              </a:rPr>
              <a:t>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8351" y="4142232"/>
            <a:ext cx="110382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CF3"/>
                </a:solidFill>
                <a:latin typeface="Consola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3346" y="4142232"/>
            <a:ext cx="197382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3AFBF"/>
                </a:solidFill>
                <a:latin typeface="Consolas"/>
              </a:rPr>
              <a:t>$0.020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8337" y="4142232"/>
            <a:ext cx="28438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C8899"/>
                </a:solidFill>
                <a:latin typeface="Segoe UI"/>
              </a:rPr>
              <a:t>Specialist · tightest cap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745736"/>
            <a:ext cx="10874959" cy="9525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855464"/>
            <a:ext cx="262632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CF3"/>
                </a:solidFill>
                <a:latin typeface="Segoe UI"/>
              </a:rPr>
              <a:t>Security &amp; PII Scanner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5857" y="4855464"/>
            <a:ext cx="132132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3AFBF"/>
                </a:solidFill>
                <a:latin typeface="Consolas"/>
              </a:rP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8351" y="4855464"/>
            <a:ext cx="110382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7ECF3"/>
                </a:solidFill>
                <a:latin typeface="Consola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3346" y="4855464"/>
            <a:ext cx="197382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3AFBF"/>
                </a:solidFill>
                <a:latin typeface="Consolas"/>
              </a:rPr>
              <a:t>$0.008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8337" y="4855464"/>
            <a:ext cx="28438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C8899"/>
                </a:solidFill>
                <a:latin typeface="Segoe UI"/>
              </a:rPr>
              <a:t>Specialist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458968"/>
            <a:ext cx="10874959" cy="9525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568696"/>
            <a:ext cx="262632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084FC"/>
                </a:solidFill>
                <a:latin typeface="Segoe UI"/>
              </a:rPr>
              <a:t>General Fallback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85857" y="5568696"/>
            <a:ext cx="132132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084FC"/>
                </a:solidFill>
                <a:latin typeface="Consolas"/>
              </a:rPr>
              <a:t>GENERAL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8351" y="5568696"/>
            <a:ext cx="1103827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084FC"/>
                </a:solidFill>
                <a:latin typeface="Consolas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3346" y="5568696"/>
            <a:ext cx="1973823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084FC"/>
                </a:solidFill>
                <a:latin typeface="Consolas"/>
              </a:rPr>
              <a:t>$0.005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8337" y="5568696"/>
            <a:ext cx="28438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084FC"/>
                </a:solidFill>
                <a:latin typeface="Segoe UI"/>
              </a:rPr>
              <a:t>Absorbs failures + unknown types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172200"/>
            <a:ext cx="10874959" cy="9525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7C8899"/>
                </a:solidFill>
                <a:latin typeface="Segoe UI"/>
              </a:rPr>
              <a:t>The generalist is deliberately cheaper and less confident (0.62–0.85 vs 0.82–0.99), so falling back has a visible quality cost — not just an operational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160">
                <a:solidFill>
                  <a:srgbClr val="4FC3E0"/>
                </a:solidFill>
                <a:latin typeface="Consolas"/>
              </a:rPr>
              <a:t>03  ·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7ECF3"/>
                </a:solidFill>
                <a:latin typeface="Consolas"/>
              </a:rPr>
              <a:t>How a task moves through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E7ECF3"/>
                </a:solidFill>
                <a:latin typeface="Consolas"/>
              </a:rPr>
              <a:t>POST /api/tasks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C8899"/>
                </a:solidFill>
                <a:latin typeface="Consolas"/>
              </a:rPr>
              <a:t>ingest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39" y="2560320"/>
            <a:ext cx="237744" cy="114300"/>
          </a:xfrm>
          <a:prstGeom prst="rightArrow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6935" y="21488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6935" y="233172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E7ECF3"/>
                </a:solidFill>
                <a:latin typeface="Consolas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5" y="2624328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C8899"/>
                </a:solidFill>
                <a:latin typeface="Consolas"/>
              </a:rPr>
              <a:t>400 on bad input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64606" y="2560320"/>
            <a:ext cx="237744" cy="114300"/>
          </a:xfrm>
          <a:prstGeom prst="rightArrow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75502" y="21488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2700">
            <a:solidFill>
              <a:srgbClr val="4FC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2" y="233172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4FC3E0"/>
                </a:solidFill>
                <a:latin typeface="Consolas"/>
              </a:rPr>
              <a:t>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2" y="2624328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C8899"/>
                </a:solidFill>
                <a:latin typeface="Consolas"/>
              </a:rPr>
              <a:t>type -&gt; agent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3173" y="2560320"/>
            <a:ext cx="237744" cy="114300"/>
          </a:xfrm>
          <a:prstGeom prst="rightArrow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34069" y="21488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69" y="233172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E7ECF3"/>
                </a:solidFill>
                <a:latin typeface="Consolas"/>
              </a:rPr>
              <a:t>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69" y="2624328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C8899"/>
                </a:solidFill>
                <a:latin typeface="Consolas"/>
              </a:rPr>
              <a:t>priority + capacity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81740" y="2560320"/>
            <a:ext cx="237744" cy="114300"/>
          </a:xfrm>
          <a:prstGeom prst="rightArrow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36" y="21488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36" y="233172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E7ECF3"/>
                </a:solidFill>
                <a:latin typeface="Consolas"/>
              </a:rP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36" y="2624328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C8899"/>
                </a:solidFill>
                <a:latin typeface="Consolas"/>
              </a:rPr>
              <a:t>1-3s, ~10% fail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951203" y="2057400"/>
            <a:ext cx="1600200" cy="566928"/>
          </a:xfrm>
          <a:prstGeom prst="roundRect">
            <a:avLst>
              <a:gd name="adj" fmla="val 10000"/>
            </a:avLst>
          </a:prstGeom>
          <a:solidFill>
            <a:srgbClr val="141A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51203" y="224028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34D399"/>
                </a:solidFill>
                <a:latin typeface="Consolas"/>
              </a:rPr>
              <a:t>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33101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C084FC"/>
                </a:solidFill>
                <a:latin typeface="Consolas"/>
              </a:rPr>
              <a:t>ERROR / TIMEOUT  -&gt;  re-route once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38528" y="37033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141A22"/>
          </a:solidFill>
          <a:ln w="127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38528" y="38862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C084FC"/>
                </a:solidFill>
                <a:latin typeface="Consolas"/>
              </a:rPr>
              <a:t>General Fallback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417880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C8899"/>
                </a:solidFill>
                <a:latin typeface="Consolas"/>
              </a:rPr>
              <a:t>fallback_applied: true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276088" y="4114800"/>
            <a:ext cx="457200" cy="114300"/>
          </a:xfrm>
          <a:prstGeom prst="rightArrow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70448" y="37033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0448" y="3886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E7ECF3"/>
                </a:solidFill>
                <a:latin typeface="Consolas"/>
              </a:rPr>
              <a:t>COMPLETED / FAILED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0448" y="417880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C8899"/>
                </a:solidFill>
                <a:latin typeface="Consolas"/>
              </a:rPr>
              <a:t>never a third attempt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385047" y="4114800"/>
            <a:ext cx="457200" cy="114300"/>
          </a:xfrm>
          <a:prstGeom prst="rightArrow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79408" y="37033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B222C"/>
          </a:solidFill>
          <a:ln w="12700">
            <a:solidFill>
              <a:srgbClr val="4FC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79408" y="38862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4FC3E0"/>
                </a:solidFill>
                <a:latin typeface="Consolas"/>
              </a:rPr>
              <a:t>metrics + SSE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4178808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7C8899"/>
                </a:solidFill>
                <a:latin typeface="Consolas"/>
              </a:rPr>
              <a:t>-&gt; live dashboard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257800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440680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A3AFBF"/>
                </a:solidFill>
                <a:latin typeface="Segoe UI"/>
              </a:rPr>
              <a:t>Routing decides ownership. The queue decides timing. Keeping those two questions in separate places is the single reason the mid-build requirement change was cheap.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160">
                <a:solidFill>
                  <a:srgbClr val="4FC3E0"/>
                </a:solidFill>
                <a:latin typeface="Consolas"/>
              </a:rPr>
              <a:t>04  ·  THE CURVEBALL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7ECF3"/>
                </a:solidFill>
                <a:latin typeface="Consolas"/>
              </a:rPr>
              <a:t>The requirement that changed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A3AFBF"/>
                </a:solidFill>
                <a:latin typeface="Segoe UI"/>
              </a:rPr>
              <a:t>"On ERROR or timeout, automatically re-route the task to a General Secondary Agent and flag the record fallback_applied: true."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97480"/>
            <a:ext cx="10874959" cy="109728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27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88036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C084FC"/>
                </a:solidFill>
                <a:latin typeface="Consolas"/>
              </a:rPr>
              <a:t>+62 / 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8" y="294436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A3AFBF"/>
                </a:solidFill>
                <a:latin typeface="Segoe UI"/>
              </a:rPr>
              <a:t>lines changed, in ONE file. No new modules. No signature changed anywhere else.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A3AFBF"/>
                </a:solidFill>
                <a:latin typeface="Segoe UI"/>
              </a:rPr>
              <a:t>It shipped as its own pull request, so the diff is the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690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40">
                <a:solidFill>
                  <a:srgbClr val="4FC3E0"/>
                </a:solidFill>
                <a:latin typeface="Consolas"/>
              </a:rPr>
              <a:t>THAT WAS NOT LUCK — TWO EARLIER DECISIONS BOUGHT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562856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480560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A task holds a list of attempts, not one result.</a:t>
            </a:r>
            <a:r>
              <a:rPr sz="1500">
                <a:solidFill>
                  <a:srgbClr val="A3AFBF"/>
                </a:solidFill>
                <a:latin typeface="Segoe UI"/>
              </a:rPr>
              <a:t> Recording each execution as an appended entry means a task can have been tried twice. Had result been a single overwritten field, adding a second attempt would have reshaped every record and every reader of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614416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532120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Routing never knew about capacity.</a:t>
            </a:r>
            <a:r>
              <a:rPr sz="1500">
                <a:solidFill>
                  <a:srgbClr val="A3AFBF"/>
                </a:solidFill>
                <a:latin typeface="Segoe UI"/>
              </a:rPr>
              <a:t> The function picking an agent answers only "who owns this work?" — so falling back is the same function called again with the failed agent excluded, not a second routing path that can drift out of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160">
                <a:solidFill>
                  <a:srgbClr val="4FC3E0"/>
                </a:solidFill>
                <a:latin typeface="Consolas"/>
              </a:rPr>
              <a:t>05  · 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7ECF3"/>
                </a:solidFill>
                <a:latin typeface="Consolas"/>
              </a:rPr>
              <a:t>Two independent stop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A3AFBF"/>
                </a:solidFill>
                <a:latin typeface="Segoe UI"/>
              </a:rPr>
              <a:t>An automatic retry that can retry itself is how you build an infinite billing loop. So there are two guards, not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017520"/>
            <a:ext cx="5300319" cy="137160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218688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30">
                <a:solidFill>
                  <a:srgbClr val="C084FC"/>
                </a:solidFill>
                <a:latin typeface="Consolas"/>
              </a:rPr>
              <a:t>GUARD 1  ·  THE 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547872"/>
            <a:ext cx="47516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A3AFBF"/>
                </a:solidFill>
                <a:latin typeface="Segoe UI"/>
              </a:rPr>
              <a:t>fallback_applied bounds any task to one fallback, ever. A second failure terminates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3017520"/>
            <a:ext cx="5300319" cy="137160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4FC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3218688"/>
            <a:ext cx="475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30">
                <a:solidFill>
                  <a:srgbClr val="4FC3E0"/>
                </a:solidFill>
                <a:latin typeface="Consolas"/>
              </a:rPr>
              <a:t>GUARD 2  ·  THE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3547872"/>
            <a:ext cx="47516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A3AFBF"/>
                </a:solidFill>
                <a:latin typeface="Segoe UI"/>
              </a:rPr>
              <a:t>The router refuses to send a General agent to itself. A task that STARTED on General fails after a single attempt.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7091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40">
                <a:solidFill>
                  <a:srgbClr val="34D399"/>
                </a:solidFill>
                <a:latin typeface="Consolas"/>
              </a:rPr>
              <a:t>STRESS TESTED  ·  60 TASKS AT A 100% FORCED FAILURE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074920"/>
            <a:ext cx="2609011" cy="96012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23951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34D399"/>
                </a:solidFill>
                <a:latin typeface="Consolas"/>
              </a:rPr>
              <a:t>60 / 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733288"/>
            <a:ext cx="22066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TERMINATED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3683" y="5074920"/>
            <a:ext cx="2609011" cy="96012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4851" y="523951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34D399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4851" y="5733288"/>
            <a:ext cx="22066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ATTEMPTS EACH — NEVER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8998" y="5074920"/>
            <a:ext cx="2609011" cy="96012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6" y="523951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34D399"/>
                </a:solidFill>
                <a:latin typeface="Consola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6" y="5733288"/>
            <a:ext cx="22066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LEAKED CAPACITY SLOTS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313" y="5074920"/>
            <a:ext cx="2609011" cy="96012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481" y="5239512"/>
            <a:ext cx="22066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34D399"/>
                </a:solidFill>
                <a:latin typeface="Consola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481" y="5733288"/>
            <a:ext cx="22066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INFINITE LOOPS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160">
                <a:solidFill>
                  <a:srgbClr val="4FC3E0"/>
                </a:solidFill>
                <a:latin typeface="Consolas"/>
              </a:rPr>
              <a:t>06  ·  THE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7ECF3"/>
                </a:solidFill>
                <a:latin typeface="Consolas"/>
              </a:rPr>
              <a:t>Skipping beats waiting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A3AFBF"/>
                </a:solidFill>
                <a:latin typeface="Segoe UI"/>
              </a:rPr>
              <a:t>The dispatcher walks pending tasks in priority order and SKIPS a saturated agent rather than stopping at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43200"/>
            <a:ext cx="10874959" cy="123444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26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30">
                <a:solidFill>
                  <a:srgbClr val="F87171"/>
                </a:solidFill>
                <a:latin typeface="Consolas"/>
              </a:rPr>
              <a:t>WITHOUT SKIPPING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46120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A3AFBF"/>
                </a:solidFill>
                <a:latin typeface="Segoe UI"/>
              </a:rPr>
              <a:t>One HIGH TAX task waiting on a full Tax agent stalls every MEDIUM SECURITY task behind it — while the Security agent sits completely idle. Throughput collapses to the slowest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160520"/>
            <a:ext cx="10874959" cy="123444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343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30">
                <a:solidFill>
                  <a:srgbClr val="34D399"/>
                </a:solidFill>
                <a:latin typeface="Consolas"/>
              </a:rPr>
              <a:t>WITH SKIPPING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663440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A3AFBF"/>
                </a:solidFill>
                <a:latin typeface="Segoe UI"/>
              </a:rPr>
              <a:t>Every agent stays busy. Priority is still honoured wherever there is a genuine choice, and starvation stays bounded because ordering within a tier is FIFO — a skipped task goes first the moment its slot frees.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77840"/>
            <a:ext cx="10874959" cy="68580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2700">
            <a:solidFill>
              <a:srgbClr val="E0A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733288"/>
            <a:ext cx="1032631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0A64A"/>
                </a:solidFill>
                <a:latin typeface="Segoe UI"/>
              </a:rPr>
              <a:t>THE COST, STATED HONESTLY:  priority becomes best-effort PER AGENT, not a global guarantee. A LOW task on a free agent genuinely can start before a HIGH task on a busy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160">
                <a:solidFill>
                  <a:srgbClr val="4FC3E0"/>
                </a:solidFill>
                <a:latin typeface="Consolas"/>
              </a:rPr>
              <a:t>07  · 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7ECF3"/>
                </a:solidFill>
                <a:latin typeface="Consolas"/>
              </a:rPr>
              <a:t>What each decision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264460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20">
                <a:solidFill>
                  <a:srgbClr val="7C8899"/>
                </a:solidFill>
                <a:latin typeface="Consolas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5857" y="2011680"/>
            <a:ext cx="39496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20">
                <a:solidFill>
                  <a:srgbClr val="7C8899"/>
                </a:solidFill>
                <a:latin typeface="Consolas"/>
              </a:rPr>
              <a:t>WHAT IT BOUGHT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8341" y="2011680"/>
            <a:ext cx="373210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20">
                <a:solidFill>
                  <a:srgbClr val="7C8899"/>
                </a:solidFill>
                <a:latin typeface="Consolas"/>
              </a:rPr>
              <a:t>WHAT IT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22576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468880"/>
            <a:ext cx="262632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E7ECF3"/>
                </a:solidFill>
                <a:latin typeface="Segoe UI"/>
              </a:rPr>
              <a:t>Integer micro-dollars for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5857" y="2468880"/>
            <a:ext cx="3931316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3AFBF"/>
                </a:solidFill>
                <a:latin typeface="Segoe UI"/>
              </a:rPr>
              <a:t>Exact arithmetic; per-agent costs sum to the total. It is billing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8341" y="2468880"/>
            <a:ext cx="3713817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C8899"/>
                </a:solidFill>
                <a:latin typeface="Segoe UI"/>
              </a:rPr>
              <a:t>An internal field to strip, and readers must remember the unit.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26664"/>
            <a:ext cx="10874959" cy="9525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36392"/>
            <a:ext cx="262632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E7ECF3"/>
                </a:solidFill>
                <a:latin typeface="Segoe UI"/>
              </a:rPr>
              <a:t>Agent status derived, never stored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5857" y="3136392"/>
            <a:ext cx="3931316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3AFBF"/>
                </a:solidFill>
                <a:latin typeface="Segoe UI"/>
              </a:rPr>
              <a:t>Status cannot desync; no agent stuck 'processing' after a crash.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8341" y="3136392"/>
            <a:ext cx="3713817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C8899"/>
                </a:solidFill>
                <a:latin typeface="Segoe UI"/>
              </a:rPr>
              <a:t>Recomputed on every read. Would need caching at scale.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694176"/>
            <a:ext cx="10874959" cy="9525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03904"/>
            <a:ext cx="262632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E7ECF3"/>
                </a:solidFill>
                <a:latin typeface="Segoe UI"/>
              </a:rPr>
              <a:t>Unknown types accepted, bad priorities 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5857" y="3803904"/>
            <a:ext cx="3931316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3AFBF"/>
                </a:solidFill>
                <a:latin typeface="Segoe UI"/>
              </a:rPr>
              <a:t>A new document category from upstream is absorbed, not bounced.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8341" y="3803904"/>
            <a:ext cx="3713817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C8899"/>
                </a:solidFill>
                <a:latin typeface="Segoe UI"/>
              </a:rPr>
              <a:t>A typo like "TAXX" is quietly generalised. The note makes it visible.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361688"/>
            <a:ext cx="10874959" cy="9525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471416"/>
            <a:ext cx="262632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E7ECF3"/>
                </a:solidFill>
                <a:latin typeface="Segoe UI"/>
              </a:rPr>
              <a:t>Failed attempts are still billed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5857" y="4471416"/>
            <a:ext cx="3931316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3AFBF"/>
                </a:solidFill>
                <a:latin typeface="Segoe UI"/>
              </a:rPr>
              <a:t>True cost visibility. Fallback rate becomes a financial metric.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8341" y="4471416"/>
            <a:ext cx="3713817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C8899"/>
                </a:solidFill>
                <a:latin typeface="Segoe UI"/>
              </a:rPr>
              <a:t>Totals exceed a naive 'cost per successful task' reading.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29200"/>
            <a:ext cx="10874959" cy="9525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138928"/>
            <a:ext cx="262632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E7ECF3"/>
                </a:solidFill>
                <a:latin typeface="Segoe UI"/>
              </a:rPr>
              <a:t>SSE instead of WebSockets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5857" y="5138928"/>
            <a:ext cx="3931316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3AFBF"/>
                </a:solidFill>
                <a:latin typeface="Segoe UI"/>
              </a:rPr>
              <a:t>Live updates, zero extra dependencies, automatic reconnection.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8341" y="5138928"/>
            <a:ext cx="3713817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C8899"/>
                </a:solidFill>
                <a:latin typeface="Segoe UI"/>
              </a:rPr>
              <a:t>No channel back from browser to server. Not needed — but foreclosed.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696712"/>
            <a:ext cx="10874959" cy="9525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806440"/>
            <a:ext cx="262632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E7ECF3"/>
                </a:solidFill>
                <a:latin typeface="Segoe UI"/>
              </a:rPr>
              <a:t>Everything held in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5857" y="5806440"/>
            <a:ext cx="3931316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3AFBF"/>
                </a:solidFill>
                <a:latin typeface="Segoe UI"/>
              </a:rPr>
              <a:t>No database to stand up. Runs with two commands.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8341" y="5806440"/>
            <a:ext cx="3713817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C8899"/>
                </a:solidFill>
                <a:latin typeface="Segoe UI"/>
              </a:rPr>
              <a:t>A restart loses all history. First thing to fix for anything real.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364224"/>
            <a:ext cx="10874959" cy="9525"/>
          </a:xfrm>
          <a:prstGeom prst="rect">
            <a:avLst/>
          </a:prstGeom>
          <a:solidFill>
            <a:srgbClr val="1B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160">
                <a:solidFill>
                  <a:srgbClr val="4FC3E0"/>
                </a:solidFill>
                <a:latin typeface="Consolas"/>
              </a:rPr>
              <a:t>08  ·  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7ECF3"/>
                </a:solidFill>
                <a:latin typeface="Consolas"/>
              </a:rPr>
              <a:t>Three defects, one of them in the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10874959" cy="1325880"/>
          </a:xfrm>
          <a:prstGeom prst="roundRect">
            <a:avLst>
              <a:gd name="adj" fmla="val 6000"/>
            </a:avLst>
          </a:prstGeom>
          <a:solidFill>
            <a:srgbClr val="1B222C"/>
          </a:solidFill>
          <a:ln w="12700">
            <a:solidFill>
              <a:srgbClr val="E0A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860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30">
                <a:solidFill>
                  <a:srgbClr val="E0A64A"/>
                </a:solidFill>
                <a:latin typeface="Consolas"/>
              </a:rPr>
              <a:t>IN THE SUPPLIED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06040"/>
            <a:ext cx="10326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A3AFBF"/>
                </a:solidFill>
                <a:latin typeface="Segoe UI"/>
              </a:rPr>
              <a:t>Both agents_config.json and sample_tasks.json open with a  // filename  comment line, so NEITHER IS VALID JSON — the standard parser throws on them as delivered. Fixed in the loader rather than by editing the supplied files, using a character scanner: a naive regex would turn "https://x.com" inside a payload into "https:".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0332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40">
                <a:solidFill>
                  <a:srgbClr val="4FC3E0"/>
                </a:solidFill>
                <a:latin typeface="Consolas"/>
              </a:rPr>
              <a:t>FOUND DURING THE BUILD  ·  BOTH NOW HAVE REGRESSION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197096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114800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The server would not shut down.</a:t>
            </a:r>
            <a:r>
              <a:rPr sz="1500">
                <a:solidFill>
                  <a:srgbClr val="A3AFBF"/>
                </a:solidFill>
                <a:latin typeface="Segoe UI"/>
              </a:rPr>
              <a:t> An open event stream is a connection that never finishes on its own, so shutdown waited for it forever. This would have hung on any real deployment restart — not a test artifact.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248656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5166360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The background worker ran while switched off.</a:t>
            </a:r>
            <a:r>
              <a:rPr sz="1500">
                <a:solidFill>
                  <a:srgbClr val="A3AFBF"/>
                </a:solidFill>
                <a:latin typeface="Segoe UI"/>
              </a:rPr>
              <a:t> A flag defaulted the wrong way, so a worker that had never been started still picked up and executed tasks, silently ignoring the setting meant to prevent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160">
                <a:solidFill>
                  <a:srgbClr val="4FC3E0"/>
                </a:solidFill>
                <a:latin typeface="Consolas"/>
              </a:rPr>
              <a:t>09  ·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7ECF3"/>
                </a:solidFill>
                <a:latin typeface="Consolas"/>
              </a:rPr>
              <a:t>Where it ended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2057948" cy="1051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21992"/>
            <a:ext cx="16556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34D399"/>
                </a:solidFill>
                <a:latin typeface="Consolas"/>
              </a:rP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15768"/>
            <a:ext cx="16556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620" y="2057400"/>
            <a:ext cx="2057948" cy="1051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788" y="2221992"/>
            <a:ext cx="16556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7ECF3"/>
                </a:solidFill>
                <a:latin typeface="Consolas"/>
              </a:rPr>
              <a:t>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788" y="2715768"/>
            <a:ext cx="16556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TEST SUITES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6872" y="2057400"/>
            <a:ext cx="2057948" cy="1051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8040" y="2221992"/>
            <a:ext cx="16556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4FC3E0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8040" y="2715768"/>
            <a:ext cx="16556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PROD DEPENDENCIES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1124" y="2057400"/>
            <a:ext cx="2057948" cy="1051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2292" y="2221992"/>
            <a:ext cx="16556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E7ECF3"/>
                </a:solidFill>
                <a:latin typeface="Consola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2292" y="2715768"/>
            <a:ext cx="16556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MERGED PRS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5376" y="2057400"/>
            <a:ext cx="2057948" cy="1051560"/>
          </a:xfrm>
          <a:prstGeom prst="roundRect">
            <a:avLst>
              <a:gd name="adj" fmla="val 8000"/>
            </a:avLst>
          </a:prstGeom>
          <a:solidFill>
            <a:srgbClr val="141A22"/>
          </a:solidFill>
          <a:ln w="12700">
            <a:solidFill>
              <a:srgbClr val="2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6544" y="2221992"/>
            <a:ext cx="16556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34D399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6544" y="2715768"/>
            <a:ext cx="16556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20">
                <a:solidFill>
                  <a:srgbClr val="7C8899"/>
                </a:solidFill>
                <a:latin typeface="Consolas"/>
              </a:rPr>
              <a:t>VULNERABILITIES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4290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40">
                <a:solidFill>
                  <a:srgbClr val="C084FC"/>
                </a:solidFill>
                <a:latin typeface="Consolas"/>
              </a:rPr>
              <a:t>VERIFIED IN A REAL BROWSER, NOT ONLY IN TESTS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10874959" cy="123444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977639"/>
            <a:ext cx="10234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>
                <a:solidFill>
                  <a:srgbClr val="A3AFBF"/>
                </a:solidFill>
                <a:latin typeface="Consolas"/>
              </a:rPr>
              <a:t>AUDIT      fallback=true   attempts=2   Audit:ERROR     -&gt; General:TIMEOUT</a:t>
            </a:r>
          </a:p>
          <a:p>
            <a:pPr algn="l">
              <a:lnSpc>
                <a:spcPct val="165000"/>
              </a:lnSpc>
            </a:pPr>
            <a:r>
              <a:rPr sz="1200" b="0">
                <a:solidFill>
                  <a:srgbClr val="A3AFBF"/>
                </a:solidFill>
                <a:latin typeface="Consolas"/>
              </a:rPr>
              <a:t>SECURITY   fallback=true   attempts=2   Security:TIMEOUT -&gt; General:TIMEOUT</a:t>
            </a:r>
          </a:p>
          <a:p>
            <a:pPr algn="l">
              <a:lnSpc>
                <a:spcPct val="165000"/>
              </a:lnSpc>
            </a:pPr>
            <a:r>
              <a:rPr sz="1200" b="0">
                <a:solidFill>
                  <a:srgbClr val="A3AFBF"/>
                </a:solidFill>
                <a:latin typeface="Consolas"/>
              </a:rPr>
              <a:t>TAX        fallback=true   attempts=2   Tax:ERROR       -&gt; General:TIMEOUT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21208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7C8899"/>
                </a:solidFill>
                <a:latin typeface="Segoe UI"/>
              </a:rPr>
              <a:t>With failures switched off, the same three tasks completed automatically — 100% success, HEALTHY, 324 ms average, $0.0073 total, zero fallbacks. No manual trigger: the queue drained them on its own. Every pull request carries its own evidence log, and the test suite uses Node's built-in runner, so there is no test framework in the dependency tree at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160">
                <a:solidFill>
                  <a:srgbClr val="4FC3E0"/>
                </a:solidFill>
                <a:latin typeface="Consolas"/>
              </a:rPr>
              <a:t>10  · 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7ECF3"/>
                </a:solidFill>
                <a:latin typeface="Consolas"/>
              </a:rPr>
              <a:t>What I would do with more than 90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10874959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68296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86000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Persistence.</a:t>
            </a:r>
            <a:r>
              <a:rPr sz="1500">
                <a:solidFill>
                  <a:srgbClr val="A3AFBF"/>
                </a:solidFill>
                <a:latin typeface="Segoe UI"/>
              </a:rPr>
              <a:t> Everything is in memory; a restart loses the record. For an audit pipeline that is the first real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026664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Authentication.</a:t>
            </a:r>
            <a:r>
              <a:rPr sz="1500">
                <a:solidFill>
                  <a:srgbClr val="A3AFBF"/>
                </a:solidFill>
                <a:latin typeface="Segoe UI"/>
              </a:rPr>
              <a:t> There is none. Fine locally, unacceptable for anything holding client tax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685032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602736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Ingestion backpressure.</a:t>
            </a:r>
            <a:r>
              <a:rPr sz="1500">
                <a:solidFill>
                  <a:srgbClr val="A3AFBF"/>
                </a:solidFill>
                <a:latin typeface="Segoe UI"/>
              </a:rPr>
              <a:t> The queue is unbounded — a large enough burst exhausts memory before capacity limits ever bind.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343400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261104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Configurable retry budgets.</a:t>
            </a:r>
            <a:r>
              <a:rPr sz="1500">
                <a:solidFill>
                  <a:srgbClr val="A3AFBF"/>
                </a:solidFill>
                <a:latin typeface="Segoe UI"/>
              </a:rPr>
              <a:t> Exactly one fallback is right for this requirement; real pipelines want per-type policies and backoff.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01768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919472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Structured logging with correlation ids.</a:t>
            </a:r>
            <a:r>
              <a:rPr sz="1500">
                <a:solidFill>
                  <a:srgbClr val="A3AFBF"/>
                </a:solidFill>
                <a:latin typeface="Segoe UI"/>
              </a:rPr>
              <a:t> console.error is not an audit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660136"/>
            <a:ext cx="38100" cy="139700"/>
          </a:xfrm>
          <a:prstGeom prst="rect">
            <a:avLst/>
          </a:prstGeom>
          <a:solidFill>
            <a:srgbClr val="4FC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577840"/>
            <a:ext cx="106737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E7ECF3"/>
                </a:solidFill>
                <a:latin typeface="Segoe UI"/>
              </a:rPr>
              <a:t>Frontend component tests.</a:t>
            </a:r>
            <a:r>
              <a:rPr sz="1500">
                <a:solidFill>
                  <a:srgbClr val="A3AFBF"/>
                </a:solidFill>
                <a:latin typeface="Segoe UI"/>
              </a:rPr>
              <a:t> The deliberate casualty of the time budget; the API contract beneath it is thoroughly covered.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